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DM Sans Italics" charset="1" panose="00000000000000000000"/>
      <p:regular r:id="rId16"/>
    </p:embeddedFont>
    <p:embeddedFont>
      <p:font typeface="Poppins" charset="1" panose="00000500000000000000"/>
      <p:regular r:id="rId17"/>
    </p:embeddedFont>
    <p:embeddedFont>
      <p:font typeface="Poppins Bold" charset="1" panose="00000800000000000000"/>
      <p:regular r:id="rId18"/>
    </p:embeddedFont>
    <p:embeddedFont>
      <p:font typeface="DM Sans" charset="1" panose="00000000000000000000"/>
      <p:regular r:id="rId19"/>
    </p:embeddedFont>
    <p:embeddedFont>
      <p:font typeface="DM Sans Bold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15.pn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Relationship Id="rId8" Target="../media/image2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pn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Relationship Id="rId3" Target="../media/image38.pn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../media/image41.png" Type="http://schemas.openxmlformats.org/officeDocument/2006/relationships/image"/><Relationship Id="rId5" Target="../media/image42.svg" Type="http://schemas.openxmlformats.org/officeDocument/2006/relationships/image"/><Relationship Id="rId6" Target="../media/image43.png" Type="http://schemas.openxmlformats.org/officeDocument/2006/relationships/image"/><Relationship Id="rId7" Target="../media/image44.png" Type="http://schemas.openxmlformats.org/officeDocument/2006/relationships/image"/><Relationship Id="rId8" Target="../embeddings/oleObject1.bin" Type="http://schemas.openxmlformats.org/officeDocument/2006/relationships/oleObjec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jpe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9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11392544" y="4154952"/>
            <a:ext cx="11958151" cy="1929323"/>
            <a:chOff x="0" y="0"/>
            <a:chExt cx="3149472" cy="5081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49472" cy="508135"/>
            </a:xfrm>
            <a:custGeom>
              <a:avLst/>
              <a:gdLst/>
              <a:ahLst/>
              <a:cxnLst/>
              <a:rect r="r" b="b" t="t" l="l"/>
              <a:pathLst>
                <a:path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29C2E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208957" y="-1011147"/>
            <a:ext cx="2647750" cy="2647750"/>
          </a:xfrm>
          <a:custGeom>
            <a:avLst/>
            <a:gdLst/>
            <a:ahLst/>
            <a:cxnLst/>
            <a:rect r="r" b="b" t="t" l="l"/>
            <a:pathLst>
              <a:path h="2647750" w="2647750">
                <a:moveTo>
                  <a:pt x="0" y="0"/>
                </a:moveTo>
                <a:lnTo>
                  <a:pt x="2647750" y="0"/>
                </a:lnTo>
                <a:lnTo>
                  <a:pt x="2647750" y="2647750"/>
                </a:lnTo>
                <a:lnTo>
                  <a:pt x="0" y="2647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0380940" y="649592"/>
            <a:ext cx="7516996" cy="8987817"/>
            <a:chOff x="0" y="0"/>
            <a:chExt cx="8603361" cy="102867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-50" y="-128"/>
              <a:ext cx="8603411" cy="10286874"/>
            </a:xfrm>
            <a:custGeom>
              <a:avLst/>
              <a:gdLst/>
              <a:ahLst/>
              <a:cxnLst/>
              <a:rect r="r" b="b" t="t" l="l"/>
              <a:pathLst>
                <a:path h="10286874" w="8603411">
                  <a:moveTo>
                    <a:pt x="8603411" y="10251441"/>
                  </a:moveTo>
                  <a:cubicBezTo>
                    <a:pt x="8603411" y="10284588"/>
                    <a:pt x="8592743" y="10286874"/>
                    <a:pt x="8564930" y="10286874"/>
                  </a:cubicBezTo>
                  <a:cubicBezTo>
                    <a:pt x="5710350" y="10286239"/>
                    <a:pt x="2855899" y="10286239"/>
                    <a:pt x="1320" y="10286239"/>
                  </a:cubicBezTo>
                  <a:cubicBezTo>
                    <a:pt x="-2744" y="10272396"/>
                    <a:pt x="3606" y="10259823"/>
                    <a:pt x="6527" y="10246996"/>
                  </a:cubicBezTo>
                  <a:cubicBezTo>
                    <a:pt x="132003" y="9685402"/>
                    <a:pt x="257606" y="9123935"/>
                    <a:pt x="383463" y="8562467"/>
                  </a:cubicBezTo>
                  <a:cubicBezTo>
                    <a:pt x="562914" y="7761986"/>
                    <a:pt x="742746" y="6961633"/>
                    <a:pt x="922070" y="6161151"/>
                  </a:cubicBezTo>
                  <a:cubicBezTo>
                    <a:pt x="1143558" y="5172583"/>
                    <a:pt x="1364538" y="4184015"/>
                    <a:pt x="1585899" y="3195574"/>
                  </a:cubicBezTo>
                  <a:cubicBezTo>
                    <a:pt x="1810816" y="2191385"/>
                    <a:pt x="2035860" y="1187323"/>
                    <a:pt x="2261412" y="183261"/>
                  </a:cubicBezTo>
                  <a:cubicBezTo>
                    <a:pt x="2275128" y="122174"/>
                    <a:pt x="2283891" y="59690"/>
                    <a:pt x="2306116" y="635"/>
                  </a:cubicBezTo>
                  <a:cubicBezTo>
                    <a:pt x="4392472" y="635"/>
                    <a:pt x="6478828" y="635"/>
                    <a:pt x="8565184" y="0"/>
                  </a:cubicBezTo>
                  <a:cubicBezTo>
                    <a:pt x="8593505" y="0"/>
                    <a:pt x="8603157" y="3429"/>
                    <a:pt x="8603157" y="35814"/>
                  </a:cubicBezTo>
                  <a:cubicBezTo>
                    <a:pt x="8602395" y="3441066"/>
                    <a:pt x="8602395" y="6846317"/>
                    <a:pt x="8603411" y="10251441"/>
                  </a:cubicBezTo>
                  <a:close/>
                </a:path>
              </a:pathLst>
            </a:custGeom>
            <a:blipFill>
              <a:blip r:embed="rId4"/>
              <a:stretch>
                <a:fillRect l="-39900" t="0" r="-3990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-295175" y="8630507"/>
            <a:ext cx="2647750" cy="2647750"/>
          </a:xfrm>
          <a:custGeom>
            <a:avLst/>
            <a:gdLst/>
            <a:ahLst/>
            <a:cxnLst/>
            <a:rect r="r" b="b" t="t" l="l"/>
            <a:pathLst>
              <a:path h="2647750" w="2647750">
                <a:moveTo>
                  <a:pt x="0" y="0"/>
                </a:moveTo>
                <a:lnTo>
                  <a:pt x="2647750" y="0"/>
                </a:lnTo>
                <a:lnTo>
                  <a:pt x="2647750" y="2647751"/>
                </a:lnTo>
                <a:lnTo>
                  <a:pt x="0" y="26477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502727"/>
            <a:ext cx="1014234" cy="1243983"/>
          </a:xfrm>
          <a:custGeom>
            <a:avLst/>
            <a:gdLst/>
            <a:ahLst/>
            <a:cxnLst/>
            <a:rect r="r" b="b" t="t" l="l"/>
            <a:pathLst>
              <a:path h="1243983" w="1014234">
                <a:moveTo>
                  <a:pt x="0" y="0"/>
                </a:moveTo>
                <a:lnTo>
                  <a:pt x="1014234" y="0"/>
                </a:lnTo>
                <a:lnTo>
                  <a:pt x="1014234" y="1243982"/>
                </a:lnTo>
                <a:lnTo>
                  <a:pt x="0" y="12439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527938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291173" y="502727"/>
            <a:ext cx="5106292" cy="1243983"/>
          </a:xfrm>
          <a:custGeom>
            <a:avLst/>
            <a:gdLst/>
            <a:ahLst/>
            <a:cxnLst/>
            <a:rect r="r" b="b" t="t" l="l"/>
            <a:pathLst>
              <a:path h="1243983" w="5106292">
                <a:moveTo>
                  <a:pt x="0" y="0"/>
                </a:moveTo>
                <a:lnTo>
                  <a:pt x="5106292" y="0"/>
                </a:lnTo>
                <a:lnTo>
                  <a:pt x="5106292" y="1243982"/>
                </a:lnTo>
                <a:lnTo>
                  <a:pt x="0" y="12439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4723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6382875"/>
            <a:ext cx="6648474" cy="1171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1"/>
              </a:lnSpc>
            </a:pPr>
            <a:r>
              <a:rPr lang="en-US" sz="2545" i="true">
                <a:solidFill>
                  <a:srgbClr val="FFFFFF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Integrantes: </a:t>
            </a:r>
          </a:p>
          <a:p>
            <a:pPr algn="l">
              <a:lnSpc>
                <a:spcPts val="3131"/>
              </a:lnSpc>
            </a:pPr>
            <a:r>
              <a:rPr lang="en-US" sz="2545" i="true">
                <a:solidFill>
                  <a:srgbClr val="FFFFFF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Mauricio Gatica</a:t>
            </a:r>
          </a:p>
          <a:p>
            <a:pPr algn="l" marL="0" indent="0" lvl="0">
              <a:lnSpc>
                <a:spcPts val="3131"/>
              </a:lnSpc>
              <a:spcBef>
                <a:spcPct val="0"/>
              </a:spcBef>
            </a:pPr>
            <a:r>
              <a:rPr lang="en-US" sz="2545" i="true">
                <a:solidFill>
                  <a:srgbClr val="FFFFFF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Anna Heisig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451684"/>
            <a:ext cx="7044924" cy="1167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22"/>
              </a:lnSpc>
            </a:pPr>
            <a:r>
              <a:rPr lang="en-US" sz="7268">
                <a:solidFill>
                  <a:srgbClr val="FFFBFB"/>
                </a:solidFill>
                <a:latin typeface="Poppins"/>
                <a:ea typeface="Poppins"/>
                <a:cs typeface="Poppins"/>
                <a:sym typeface="Poppins"/>
              </a:rPr>
              <a:t>CAPSTONE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4514144"/>
            <a:ext cx="8699112" cy="1880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74"/>
              </a:lnSpc>
            </a:pPr>
            <a:r>
              <a:rPr lang="en-US" b="true" sz="11729">
                <a:solidFill>
                  <a:srgbClr val="01D9CE"/>
                </a:solidFill>
                <a:latin typeface="Poppins Bold"/>
                <a:ea typeface="Poppins Bold"/>
                <a:cs typeface="Poppins Bold"/>
                <a:sym typeface="Poppins Bold"/>
              </a:rPr>
              <a:t>WELLQ API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9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86667" y="3084143"/>
            <a:ext cx="2613061" cy="2611507"/>
            <a:chOff x="0" y="0"/>
            <a:chExt cx="991873" cy="9912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1873" cy="991283"/>
            </a:xfrm>
            <a:custGeom>
              <a:avLst/>
              <a:gdLst/>
              <a:ahLst/>
              <a:cxnLst/>
              <a:rect r="r" b="b" t="t" l="l"/>
              <a:pathLst>
                <a:path h="991283" w="991873">
                  <a:moveTo>
                    <a:pt x="0" y="0"/>
                  </a:moveTo>
                  <a:lnTo>
                    <a:pt x="991873" y="0"/>
                  </a:lnTo>
                  <a:lnTo>
                    <a:pt x="991873" y="991283"/>
                  </a:lnTo>
                  <a:lnTo>
                    <a:pt x="0" y="991283"/>
                  </a:lnTo>
                  <a:close/>
                </a:path>
              </a:pathLst>
            </a:custGeom>
            <a:solidFill>
              <a:srgbClr val="0097B2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91873" cy="1029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83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3133964" y="4640463"/>
            <a:ext cx="2203125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5844564" y="3084143"/>
            <a:ext cx="2613061" cy="2611507"/>
            <a:chOff x="0" y="0"/>
            <a:chExt cx="991873" cy="99128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91873" cy="991283"/>
            </a:xfrm>
            <a:custGeom>
              <a:avLst/>
              <a:gdLst/>
              <a:ahLst/>
              <a:cxnLst/>
              <a:rect r="r" b="b" t="t" l="l"/>
              <a:pathLst>
                <a:path h="991283" w="991873">
                  <a:moveTo>
                    <a:pt x="0" y="0"/>
                  </a:moveTo>
                  <a:lnTo>
                    <a:pt x="991873" y="0"/>
                  </a:lnTo>
                  <a:lnTo>
                    <a:pt x="991873" y="991283"/>
                  </a:lnTo>
                  <a:lnTo>
                    <a:pt x="0" y="991283"/>
                  </a:lnTo>
                  <a:close/>
                </a:path>
              </a:pathLst>
            </a:custGeom>
            <a:solidFill>
              <a:srgbClr val="0097B2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991873" cy="1029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83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9" id="9"/>
          <p:cNvSpPr/>
          <p:nvPr/>
        </p:nvSpPr>
        <p:spPr>
          <a:xfrm flipV="true">
            <a:off x="5991861" y="4640463"/>
            <a:ext cx="2203125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2986667" y="5870734"/>
            <a:ext cx="2613061" cy="2611507"/>
            <a:chOff x="0" y="0"/>
            <a:chExt cx="991873" cy="99128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91873" cy="991283"/>
            </a:xfrm>
            <a:custGeom>
              <a:avLst/>
              <a:gdLst/>
              <a:ahLst/>
              <a:cxnLst/>
              <a:rect r="r" b="b" t="t" l="l"/>
              <a:pathLst>
                <a:path h="991283" w="991873">
                  <a:moveTo>
                    <a:pt x="0" y="0"/>
                  </a:moveTo>
                  <a:lnTo>
                    <a:pt x="991873" y="0"/>
                  </a:lnTo>
                  <a:lnTo>
                    <a:pt x="991873" y="991283"/>
                  </a:lnTo>
                  <a:lnTo>
                    <a:pt x="0" y="991283"/>
                  </a:lnTo>
                  <a:close/>
                </a:path>
              </a:pathLst>
            </a:custGeom>
            <a:solidFill>
              <a:srgbClr val="0097B2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91873" cy="1029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83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3133964" y="7427054"/>
            <a:ext cx="2203125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5844564" y="5870734"/>
            <a:ext cx="2613061" cy="2611507"/>
            <a:chOff x="0" y="0"/>
            <a:chExt cx="991873" cy="99128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91873" cy="991283"/>
            </a:xfrm>
            <a:custGeom>
              <a:avLst/>
              <a:gdLst/>
              <a:ahLst/>
              <a:cxnLst/>
              <a:rect r="r" b="b" t="t" l="l"/>
              <a:pathLst>
                <a:path h="991283" w="991873">
                  <a:moveTo>
                    <a:pt x="0" y="0"/>
                  </a:moveTo>
                  <a:lnTo>
                    <a:pt x="991873" y="0"/>
                  </a:lnTo>
                  <a:lnTo>
                    <a:pt x="991873" y="991283"/>
                  </a:lnTo>
                  <a:lnTo>
                    <a:pt x="0" y="991283"/>
                  </a:lnTo>
                  <a:close/>
                </a:path>
              </a:pathLst>
            </a:custGeom>
            <a:solidFill>
              <a:srgbClr val="0097B2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91873" cy="1029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83"/>
                </a:lnSpc>
              </a:pPr>
            </a:p>
          </p:txBody>
        </p:sp>
      </p:grpSp>
      <p:sp>
        <p:nvSpPr>
          <p:cNvPr name="AutoShape 17" id="17"/>
          <p:cNvSpPr/>
          <p:nvPr/>
        </p:nvSpPr>
        <p:spPr>
          <a:xfrm flipV="true">
            <a:off x="5991861" y="7427054"/>
            <a:ext cx="2203125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10000675" y="1509629"/>
            <a:ext cx="6992751" cy="8074770"/>
            <a:chOff x="0" y="0"/>
            <a:chExt cx="5499100" cy="6350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4991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5499100">
                  <a:moveTo>
                    <a:pt x="2749550" y="6350000"/>
                  </a:moveTo>
                  <a:lnTo>
                    <a:pt x="0" y="4762500"/>
                  </a:lnTo>
                  <a:lnTo>
                    <a:pt x="0" y="1587500"/>
                  </a:lnTo>
                  <a:lnTo>
                    <a:pt x="2749550" y="0"/>
                  </a:lnTo>
                  <a:lnTo>
                    <a:pt x="5499100" y="1587500"/>
                  </a:lnTo>
                  <a:lnTo>
                    <a:pt x="5499100" y="4762500"/>
                  </a:lnTo>
                  <a:lnTo>
                    <a:pt x="2749550" y="6350000"/>
                  </a:lnTo>
                  <a:close/>
                </a:path>
              </a:pathLst>
            </a:custGeom>
            <a:solidFill>
              <a:srgbClr val="1CEEA6"/>
            </a:solidFill>
          </p:spPr>
        </p:sp>
      </p:grpSp>
      <p:grpSp>
        <p:nvGrpSpPr>
          <p:cNvPr name="Group 20" id="20"/>
          <p:cNvGrpSpPr>
            <a:grpSpLocks noChangeAspect="true"/>
          </p:cNvGrpSpPr>
          <p:nvPr/>
        </p:nvGrpSpPr>
        <p:grpSpPr>
          <a:xfrm rot="0">
            <a:off x="10143550" y="1698193"/>
            <a:ext cx="6697476" cy="7733806"/>
            <a:chOff x="0" y="0"/>
            <a:chExt cx="5499100" cy="6350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991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5499100">
                  <a:moveTo>
                    <a:pt x="2749550" y="6350000"/>
                  </a:moveTo>
                  <a:lnTo>
                    <a:pt x="0" y="4762500"/>
                  </a:lnTo>
                  <a:lnTo>
                    <a:pt x="0" y="1587500"/>
                  </a:lnTo>
                  <a:lnTo>
                    <a:pt x="2749550" y="0"/>
                  </a:lnTo>
                  <a:lnTo>
                    <a:pt x="5499100" y="1587500"/>
                  </a:lnTo>
                  <a:lnTo>
                    <a:pt x="5499100" y="4762500"/>
                  </a:lnTo>
                  <a:lnTo>
                    <a:pt x="2749550" y="6350000"/>
                  </a:lnTo>
                  <a:close/>
                </a:path>
              </a:pathLst>
            </a:custGeom>
            <a:blipFill>
              <a:blip r:embed="rId2"/>
              <a:stretch>
                <a:fillRect l="-36174" t="0" r="-36174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705275" y="3084143"/>
            <a:ext cx="2613061" cy="2611507"/>
            <a:chOff x="0" y="0"/>
            <a:chExt cx="991873" cy="99128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91873" cy="991283"/>
            </a:xfrm>
            <a:custGeom>
              <a:avLst/>
              <a:gdLst/>
              <a:ahLst/>
              <a:cxnLst/>
              <a:rect r="r" b="b" t="t" l="l"/>
              <a:pathLst>
                <a:path h="991283" w="991873">
                  <a:moveTo>
                    <a:pt x="0" y="0"/>
                  </a:moveTo>
                  <a:lnTo>
                    <a:pt x="991873" y="0"/>
                  </a:lnTo>
                  <a:lnTo>
                    <a:pt x="991873" y="991283"/>
                  </a:lnTo>
                  <a:lnTo>
                    <a:pt x="0" y="991283"/>
                  </a:lnTo>
                  <a:close/>
                </a:path>
              </a:pathLst>
            </a:custGeom>
            <a:solidFill>
              <a:srgbClr val="0097B2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991873" cy="1029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83"/>
                </a:lnSpc>
              </a:pPr>
            </a:p>
          </p:txBody>
        </p:sp>
      </p:grpSp>
      <p:sp>
        <p:nvSpPr>
          <p:cNvPr name="AutoShape 25" id="25"/>
          <p:cNvSpPr/>
          <p:nvPr/>
        </p:nvSpPr>
        <p:spPr>
          <a:xfrm flipV="true">
            <a:off x="8852572" y="4640463"/>
            <a:ext cx="2203125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8705275" y="5870734"/>
            <a:ext cx="2613061" cy="2611507"/>
            <a:chOff x="0" y="0"/>
            <a:chExt cx="991873" cy="99128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91873" cy="991283"/>
            </a:xfrm>
            <a:custGeom>
              <a:avLst/>
              <a:gdLst/>
              <a:ahLst/>
              <a:cxnLst/>
              <a:rect r="r" b="b" t="t" l="l"/>
              <a:pathLst>
                <a:path h="991283" w="991873">
                  <a:moveTo>
                    <a:pt x="0" y="0"/>
                  </a:moveTo>
                  <a:lnTo>
                    <a:pt x="991873" y="0"/>
                  </a:lnTo>
                  <a:lnTo>
                    <a:pt x="991873" y="991283"/>
                  </a:lnTo>
                  <a:lnTo>
                    <a:pt x="0" y="991283"/>
                  </a:lnTo>
                  <a:close/>
                </a:path>
              </a:pathLst>
            </a:custGeom>
            <a:solidFill>
              <a:srgbClr val="0097B2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991873" cy="1029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83"/>
                </a:lnSpc>
              </a:pPr>
            </a:p>
          </p:txBody>
        </p:sp>
      </p:grpSp>
      <p:sp>
        <p:nvSpPr>
          <p:cNvPr name="AutoShape 29" id="29"/>
          <p:cNvSpPr/>
          <p:nvPr/>
        </p:nvSpPr>
        <p:spPr>
          <a:xfrm flipV="true">
            <a:off x="8852572" y="7427054"/>
            <a:ext cx="2203125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0" id="30"/>
          <p:cNvSpPr/>
          <p:nvPr/>
        </p:nvSpPr>
        <p:spPr>
          <a:xfrm flipH="false" flipV="false" rot="0">
            <a:off x="-7631327" y="597505"/>
            <a:ext cx="9077445" cy="9077445"/>
          </a:xfrm>
          <a:custGeom>
            <a:avLst/>
            <a:gdLst/>
            <a:ahLst/>
            <a:cxnLst/>
            <a:rect r="r" b="b" t="t" l="l"/>
            <a:pathLst>
              <a:path h="9077445" w="9077445">
                <a:moveTo>
                  <a:pt x="0" y="0"/>
                </a:moveTo>
                <a:lnTo>
                  <a:pt x="9077444" y="0"/>
                </a:lnTo>
                <a:lnTo>
                  <a:pt x="9077444" y="9077445"/>
                </a:lnTo>
                <a:lnTo>
                  <a:pt x="0" y="90774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2986667" y="1641043"/>
            <a:ext cx="843733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79"/>
              </a:lnSpc>
              <a:spcBef>
                <a:spcPct val="0"/>
              </a:spcBef>
            </a:pPr>
            <a:r>
              <a:rPr lang="en-US" sz="63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CONTENIDO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133964" y="4795854"/>
            <a:ext cx="2318467" cy="318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5"/>
              </a:lnSpc>
            </a:pPr>
            <a:r>
              <a:rPr lang="en-US" sz="188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Contexto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447970" y="3225902"/>
            <a:ext cx="1690455" cy="973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14"/>
              </a:lnSpc>
            </a:pPr>
            <a:r>
              <a:rPr lang="en-US" sz="5735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991861" y="4795854"/>
            <a:ext cx="2318467" cy="318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5"/>
              </a:lnSpc>
            </a:pPr>
            <a:r>
              <a:rPr lang="en-US" sz="188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Funcionamiento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305867" y="3225902"/>
            <a:ext cx="1690455" cy="973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14"/>
              </a:lnSpc>
            </a:pPr>
            <a:r>
              <a:rPr lang="en-US" sz="5735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133964" y="7582446"/>
            <a:ext cx="2318467" cy="318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5"/>
              </a:lnSpc>
            </a:pPr>
            <a:r>
              <a:rPr lang="en-US" sz="188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Solución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447970" y="6012493"/>
            <a:ext cx="1690455" cy="973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14"/>
              </a:lnSpc>
            </a:pPr>
            <a:r>
              <a:rPr lang="en-US" sz="5735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04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305867" y="6012493"/>
            <a:ext cx="1690455" cy="973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14"/>
              </a:lnSpc>
            </a:pPr>
            <a:r>
              <a:rPr lang="en-US" sz="5735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05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852572" y="4795854"/>
            <a:ext cx="2318467" cy="318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5"/>
              </a:lnSpc>
            </a:pPr>
            <a:r>
              <a:rPr lang="en-US" sz="188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Problema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166578" y="3225902"/>
            <a:ext cx="1690455" cy="973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14"/>
              </a:lnSpc>
            </a:pPr>
            <a:r>
              <a:rPr lang="en-US" sz="5735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852572" y="7582446"/>
            <a:ext cx="2318467" cy="318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5"/>
              </a:lnSpc>
            </a:pPr>
            <a:r>
              <a:rPr lang="en-US" sz="188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Cronología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166578" y="6012493"/>
            <a:ext cx="1690455" cy="973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14"/>
              </a:lnSpc>
            </a:pPr>
            <a:r>
              <a:rPr lang="en-US" sz="5735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06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046098" y="7582446"/>
            <a:ext cx="2318467" cy="642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5"/>
              </a:lnSpc>
            </a:pPr>
            <a:r>
              <a:rPr lang="en-US" sz="188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Diseño de la solución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9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548560" y="3054132"/>
            <a:ext cx="0" cy="4676296"/>
          </a:xfrm>
          <a:prstGeom prst="line">
            <a:avLst/>
          </a:prstGeom>
          <a:ln cap="flat" w="47625">
            <a:solidFill>
              <a:srgbClr val="01D9C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3586980" y="3329028"/>
            <a:ext cx="1197170" cy="1210374"/>
          </a:xfrm>
          <a:custGeom>
            <a:avLst/>
            <a:gdLst/>
            <a:ahLst/>
            <a:cxnLst/>
            <a:rect r="r" b="b" t="t" l="l"/>
            <a:pathLst>
              <a:path h="1210374" w="1197170">
                <a:moveTo>
                  <a:pt x="0" y="0"/>
                </a:moveTo>
                <a:lnTo>
                  <a:pt x="1197170" y="0"/>
                </a:lnTo>
                <a:lnTo>
                  <a:pt x="1197170" y="1210374"/>
                </a:lnTo>
                <a:lnTo>
                  <a:pt x="0" y="12103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0426918" y="9410442"/>
            <a:ext cx="3112238" cy="3112238"/>
          </a:xfrm>
          <a:custGeom>
            <a:avLst/>
            <a:gdLst/>
            <a:ahLst/>
            <a:cxnLst/>
            <a:rect r="r" b="b" t="t" l="l"/>
            <a:pathLst>
              <a:path h="3112238" w="3112238">
                <a:moveTo>
                  <a:pt x="0" y="0"/>
                </a:moveTo>
                <a:lnTo>
                  <a:pt x="3112238" y="0"/>
                </a:lnTo>
                <a:lnTo>
                  <a:pt x="3112238" y="3112237"/>
                </a:lnTo>
                <a:lnTo>
                  <a:pt x="0" y="31122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6976845" y="9410442"/>
            <a:ext cx="3112238" cy="2466059"/>
          </a:xfrm>
          <a:custGeom>
            <a:avLst/>
            <a:gdLst/>
            <a:ahLst/>
            <a:cxnLst/>
            <a:rect r="r" b="b" t="t" l="l"/>
            <a:pathLst>
              <a:path h="2466059" w="3112238">
                <a:moveTo>
                  <a:pt x="0" y="0"/>
                </a:moveTo>
                <a:lnTo>
                  <a:pt x="3112238" y="0"/>
                </a:lnTo>
                <a:lnTo>
                  <a:pt x="3112238" y="2466059"/>
                </a:lnTo>
                <a:lnTo>
                  <a:pt x="0" y="24660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26202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3531233" y="9258300"/>
            <a:ext cx="3112238" cy="3112238"/>
          </a:xfrm>
          <a:custGeom>
            <a:avLst/>
            <a:gdLst/>
            <a:ahLst/>
            <a:cxnLst/>
            <a:rect r="r" b="b" t="t" l="l"/>
            <a:pathLst>
              <a:path h="3112238" w="3112238">
                <a:moveTo>
                  <a:pt x="0" y="0"/>
                </a:moveTo>
                <a:lnTo>
                  <a:pt x="3112237" y="0"/>
                </a:lnTo>
                <a:lnTo>
                  <a:pt x="3112237" y="3112238"/>
                </a:lnTo>
                <a:lnTo>
                  <a:pt x="0" y="31122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81160" y="9258300"/>
            <a:ext cx="3112238" cy="2466059"/>
          </a:xfrm>
          <a:custGeom>
            <a:avLst/>
            <a:gdLst/>
            <a:ahLst/>
            <a:cxnLst/>
            <a:rect r="r" b="b" t="t" l="l"/>
            <a:pathLst>
              <a:path h="2466059" w="3112238">
                <a:moveTo>
                  <a:pt x="0" y="0"/>
                </a:moveTo>
                <a:lnTo>
                  <a:pt x="3112237" y="0"/>
                </a:lnTo>
                <a:lnTo>
                  <a:pt x="3112237" y="2466059"/>
                </a:lnTo>
                <a:lnTo>
                  <a:pt x="0" y="24660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26202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6150721">
            <a:off x="6080933" y="4579544"/>
            <a:ext cx="13544802" cy="1127911"/>
          </a:xfrm>
          <a:custGeom>
            <a:avLst/>
            <a:gdLst/>
            <a:ahLst/>
            <a:cxnLst/>
            <a:rect r="r" b="b" t="t" l="l"/>
            <a:pathLst>
              <a:path h="1127911" w="13544802">
                <a:moveTo>
                  <a:pt x="0" y="0"/>
                </a:moveTo>
                <a:lnTo>
                  <a:pt x="13544801" y="0"/>
                </a:lnTo>
                <a:lnTo>
                  <a:pt x="13544801" y="1127912"/>
                </a:lnTo>
                <a:lnTo>
                  <a:pt x="0" y="11279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37172" r="0" b="0"/>
            </a:stretch>
          </a:blipFill>
        </p:spPr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1807534" y="0"/>
            <a:ext cx="6254290" cy="10287000"/>
            <a:chOff x="0" y="0"/>
            <a:chExt cx="3860673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860673" cy="6350000"/>
            </a:xfrm>
            <a:custGeom>
              <a:avLst/>
              <a:gdLst/>
              <a:ahLst/>
              <a:cxnLst/>
              <a:rect r="r" b="b" t="t" l="l"/>
              <a:pathLst>
                <a:path h="6350000" w="3860673">
                  <a:moveTo>
                    <a:pt x="3860673" y="0"/>
                  </a:moveTo>
                  <a:lnTo>
                    <a:pt x="2341753" y="6350000"/>
                  </a:lnTo>
                  <a:lnTo>
                    <a:pt x="0" y="6350000"/>
                  </a:lnTo>
                  <a:lnTo>
                    <a:pt x="1518920" y="0"/>
                  </a:lnTo>
                  <a:lnTo>
                    <a:pt x="3860673" y="0"/>
                  </a:lnTo>
                  <a:close/>
                </a:path>
              </a:pathLst>
            </a:custGeom>
            <a:blipFill>
              <a:blip r:embed="rId7"/>
              <a:stretch>
                <a:fillRect l="-64479" t="0" r="0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-4615544">
            <a:off x="10510810" y="5041623"/>
            <a:ext cx="13544802" cy="1127911"/>
          </a:xfrm>
          <a:custGeom>
            <a:avLst/>
            <a:gdLst/>
            <a:ahLst/>
            <a:cxnLst/>
            <a:rect r="r" b="b" t="t" l="l"/>
            <a:pathLst>
              <a:path h="1127911" w="13544802">
                <a:moveTo>
                  <a:pt x="0" y="0"/>
                </a:moveTo>
                <a:lnTo>
                  <a:pt x="13544801" y="0"/>
                </a:lnTo>
                <a:lnTo>
                  <a:pt x="13544801" y="1127912"/>
                </a:lnTo>
                <a:lnTo>
                  <a:pt x="0" y="11279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37172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-10800000">
            <a:off x="15966396" y="9258300"/>
            <a:ext cx="13457996" cy="3264379"/>
            <a:chOff x="0" y="0"/>
            <a:chExt cx="17943995" cy="435250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149650" cy="4149650"/>
            </a:xfrm>
            <a:custGeom>
              <a:avLst/>
              <a:gdLst/>
              <a:ahLst/>
              <a:cxnLst/>
              <a:rect r="r" b="b" t="t" l="l"/>
              <a:pathLst>
                <a:path h="4149650" w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0"/>
                  </a:lnTo>
                  <a:lnTo>
                    <a:pt x="0" y="4149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4600097" y="861572"/>
              <a:ext cx="4149650" cy="3288079"/>
            </a:xfrm>
            <a:custGeom>
              <a:avLst/>
              <a:gdLst/>
              <a:ahLst/>
              <a:cxnLst/>
              <a:rect r="r" b="b" t="t" l="l"/>
              <a:pathLst>
                <a:path h="3288079" w="4149650">
                  <a:moveTo>
                    <a:pt x="0" y="0"/>
                  </a:moveTo>
                  <a:lnTo>
                    <a:pt x="4149651" y="0"/>
                  </a:lnTo>
                  <a:lnTo>
                    <a:pt x="4149651" y="3288078"/>
                  </a:lnTo>
                  <a:lnTo>
                    <a:pt x="0" y="32880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-26202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9194248" y="202855"/>
              <a:ext cx="4149650" cy="4149650"/>
            </a:xfrm>
            <a:custGeom>
              <a:avLst/>
              <a:gdLst/>
              <a:ahLst/>
              <a:cxnLst/>
              <a:rect r="r" b="b" t="t" l="l"/>
              <a:pathLst>
                <a:path h="4149650" w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1"/>
                  </a:lnTo>
                  <a:lnTo>
                    <a:pt x="0" y="4149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3794345" y="1064427"/>
              <a:ext cx="4149650" cy="3288079"/>
            </a:xfrm>
            <a:custGeom>
              <a:avLst/>
              <a:gdLst/>
              <a:ahLst/>
              <a:cxnLst/>
              <a:rect r="r" b="b" t="t" l="l"/>
              <a:pathLst>
                <a:path h="3288079" w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3288079"/>
                  </a:lnTo>
                  <a:lnTo>
                    <a:pt x="0" y="328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-26202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8405448" y="3143951"/>
            <a:ext cx="1554987" cy="1663087"/>
          </a:xfrm>
          <a:custGeom>
            <a:avLst/>
            <a:gdLst/>
            <a:ahLst/>
            <a:cxnLst/>
            <a:rect r="r" b="b" t="t" l="l"/>
            <a:pathLst>
              <a:path h="1663087" w="1554987">
                <a:moveTo>
                  <a:pt x="0" y="0"/>
                </a:moveTo>
                <a:lnTo>
                  <a:pt x="1554987" y="0"/>
                </a:lnTo>
                <a:lnTo>
                  <a:pt x="1554987" y="1663087"/>
                </a:lnTo>
                <a:lnTo>
                  <a:pt x="0" y="166308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3307233" y="3044142"/>
            <a:ext cx="1756665" cy="1756665"/>
          </a:xfrm>
          <a:custGeom>
            <a:avLst/>
            <a:gdLst/>
            <a:ahLst/>
            <a:cxnLst/>
            <a:rect r="r" b="b" t="t" l="l"/>
            <a:pathLst>
              <a:path h="1756665" w="1756665">
                <a:moveTo>
                  <a:pt x="0" y="0"/>
                </a:moveTo>
                <a:lnTo>
                  <a:pt x="1756665" y="0"/>
                </a:lnTo>
                <a:lnTo>
                  <a:pt x="1756665" y="1756665"/>
                </a:lnTo>
                <a:lnTo>
                  <a:pt x="0" y="175666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7169517" y="5815384"/>
            <a:ext cx="4026849" cy="1933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57"/>
              </a:lnSpc>
              <a:spcBef>
                <a:spcPct val="0"/>
              </a:spcBef>
            </a:pPr>
            <a:r>
              <a:rPr lang="en-US" sz="221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</a:t>
            </a:r>
            <a:r>
              <a:rPr lang="en-US" sz="2215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ermite registrar métricas diarias como el estado de ánimo, la energía, el estrés y el sueño para ofrecer terapia de audio personalizada.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111086" y="1244292"/>
            <a:ext cx="6977998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79"/>
              </a:lnSpc>
              <a:spcBef>
                <a:spcPct val="0"/>
              </a:spcBef>
            </a:pPr>
            <a:r>
              <a:rPr lang="en-US" sz="6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CONTEXTO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090574" y="5815384"/>
            <a:ext cx="4026849" cy="1933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57"/>
              </a:lnSpc>
              <a:spcBef>
                <a:spcPct val="0"/>
              </a:spcBef>
            </a:pPr>
            <a:r>
              <a:rPr lang="en-US" sz="221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Wellq </a:t>
            </a:r>
            <a:r>
              <a:rPr lang="en-US" sz="2215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es una aplicación móvil impulsada por inteligencia artificial que funciona como un acompañante de bienestar personal.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172141" y="5115132"/>
            <a:ext cx="4026849" cy="381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57"/>
              </a:lnSpc>
              <a:spcBef>
                <a:spcPct val="0"/>
              </a:spcBef>
            </a:pPr>
            <a:r>
              <a:rPr lang="en-US" b="true" sz="2215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¿QUÉ ES WELLQ APP?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082372" y="5115132"/>
            <a:ext cx="4026849" cy="381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57"/>
              </a:lnSpc>
              <a:spcBef>
                <a:spcPct val="0"/>
              </a:spcBef>
            </a:pPr>
            <a:r>
              <a:rPr lang="en-US" b="true" sz="2215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¿QUÉ PERMITE HACER?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9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800998" y="7799998"/>
            <a:ext cx="2487002" cy="2487002"/>
          </a:xfrm>
          <a:custGeom>
            <a:avLst/>
            <a:gdLst/>
            <a:ahLst/>
            <a:cxnLst/>
            <a:rect r="r" b="b" t="t" l="l"/>
            <a:pathLst>
              <a:path h="2487002" w="2487002">
                <a:moveTo>
                  <a:pt x="0" y="0"/>
                </a:moveTo>
                <a:lnTo>
                  <a:pt x="2487002" y="0"/>
                </a:lnTo>
                <a:lnTo>
                  <a:pt x="2487002" y="2487002"/>
                </a:lnTo>
                <a:lnTo>
                  <a:pt x="0" y="2487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283" y="-999834"/>
            <a:ext cx="2293320" cy="2293320"/>
          </a:xfrm>
          <a:custGeom>
            <a:avLst/>
            <a:gdLst/>
            <a:ahLst/>
            <a:cxnLst/>
            <a:rect r="r" b="b" t="t" l="l"/>
            <a:pathLst>
              <a:path h="2293320" w="2293320">
                <a:moveTo>
                  <a:pt x="0" y="0"/>
                </a:moveTo>
                <a:lnTo>
                  <a:pt x="2293320" y="0"/>
                </a:lnTo>
                <a:lnTo>
                  <a:pt x="2293320" y="2293320"/>
                </a:lnTo>
                <a:lnTo>
                  <a:pt x="0" y="22933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2907856"/>
            <a:ext cx="4209886" cy="2762737"/>
          </a:xfrm>
          <a:custGeom>
            <a:avLst/>
            <a:gdLst/>
            <a:ahLst/>
            <a:cxnLst/>
            <a:rect r="r" b="b" t="t" l="l"/>
            <a:pathLst>
              <a:path h="2762737" w="4209886">
                <a:moveTo>
                  <a:pt x="0" y="0"/>
                </a:moveTo>
                <a:lnTo>
                  <a:pt x="4209886" y="0"/>
                </a:lnTo>
                <a:lnTo>
                  <a:pt x="4209886" y="2762737"/>
                </a:lnTo>
                <a:lnTo>
                  <a:pt x="0" y="27627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925" t="0" r="-3395" b="-5321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42377" y="5889668"/>
            <a:ext cx="1865731" cy="4039714"/>
          </a:xfrm>
          <a:custGeom>
            <a:avLst/>
            <a:gdLst/>
            <a:ahLst/>
            <a:cxnLst/>
            <a:rect r="r" b="b" t="t" l="l"/>
            <a:pathLst>
              <a:path h="4039714" w="1865731">
                <a:moveTo>
                  <a:pt x="0" y="0"/>
                </a:moveTo>
                <a:lnTo>
                  <a:pt x="1865732" y="0"/>
                </a:lnTo>
                <a:lnTo>
                  <a:pt x="1865732" y="4039714"/>
                </a:lnTo>
                <a:lnTo>
                  <a:pt x="0" y="40397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247320" y="5670593"/>
            <a:ext cx="1991265" cy="4311522"/>
          </a:xfrm>
          <a:custGeom>
            <a:avLst/>
            <a:gdLst/>
            <a:ahLst/>
            <a:cxnLst/>
            <a:rect r="r" b="b" t="t" l="l"/>
            <a:pathLst>
              <a:path h="4311522" w="1991265">
                <a:moveTo>
                  <a:pt x="0" y="0"/>
                </a:moveTo>
                <a:lnTo>
                  <a:pt x="1991266" y="0"/>
                </a:lnTo>
                <a:lnTo>
                  <a:pt x="1991266" y="4311523"/>
                </a:lnTo>
                <a:lnTo>
                  <a:pt x="0" y="431152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1984374" y="588548"/>
            <a:ext cx="4604050" cy="9109904"/>
            <a:chOff x="0" y="0"/>
            <a:chExt cx="2620010" cy="51841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9"/>
              <a:stretch>
                <a:fillRect l="0" t="-438" r="0" b="-438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142377" y="1631506"/>
            <a:ext cx="7615423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79"/>
              </a:lnSpc>
              <a:spcBef>
                <a:spcPct val="0"/>
              </a:spcBef>
            </a:pPr>
            <a:r>
              <a:rPr lang="en-US" sz="63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FUNCIONAMIENTO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531156" y="3161981"/>
            <a:ext cx="4929503" cy="1800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55"/>
              </a:lnSpc>
              <a:spcBef>
                <a:spcPct val="0"/>
              </a:spcBef>
            </a:pPr>
            <a:r>
              <a:rPr lang="en-US" sz="206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Wellq APP recibe datos de APIs de los proveedores como Whoop, Gazmin, Fitbit y Oura, a través de SpikeAPI, que conecta la información de múltiples dispositivos con una sola integración.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531156" y="6979020"/>
            <a:ext cx="5129505" cy="1800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55"/>
              </a:lnSpc>
              <a:spcBef>
                <a:spcPct val="0"/>
              </a:spcBef>
            </a:pPr>
            <a:r>
              <a:rPr lang="en-US" sz="206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La app con estos datos proporciona información tanto para los pacientes como los médicos, incluyendo feedback de ejercicios en tiempo real, seguimiento del dolor y recuperación de pacientes.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9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86718" y="-2096694"/>
            <a:ext cx="4337366" cy="4337366"/>
          </a:xfrm>
          <a:custGeom>
            <a:avLst/>
            <a:gdLst/>
            <a:ahLst/>
            <a:cxnLst/>
            <a:rect r="r" b="b" t="t" l="l"/>
            <a:pathLst>
              <a:path h="4337366" w="4337366">
                <a:moveTo>
                  <a:pt x="0" y="0"/>
                </a:moveTo>
                <a:lnTo>
                  <a:pt x="4337366" y="0"/>
                </a:lnTo>
                <a:lnTo>
                  <a:pt x="4337366" y="4337366"/>
                </a:lnTo>
                <a:lnTo>
                  <a:pt x="0" y="4337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930595" y="8644732"/>
            <a:ext cx="4337366" cy="4337366"/>
          </a:xfrm>
          <a:custGeom>
            <a:avLst/>
            <a:gdLst/>
            <a:ahLst/>
            <a:cxnLst/>
            <a:rect r="r" b="b" t="t" l="l"/>
            <a:pathLst>
              <a:path h="4337366" w="4337366">
                <a:moveTo>
                  <a:pt x="0" y="0"/>
                </a:moveTo>
                <a:lnTo>
                  <a:pt x="4337366" y="0"/>
                </a:lnTo>
                <a:lnTo>
                  <a:pt x="4337366" y="4337366"/>
                </a:lnTo>
                <a:lnTo>
                  <a:pt x="0" y="43373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029857" y="971550"/>
            <a:ext cx="5416137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79"/>
              </a:lnSpc>
              <a:spcBef>
                <a:spcPct val="0"/>
              </a:spcBef>
            </a:pPr>
            <a:r>
              <a:rPr lang="en-US" sz="63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PROBLEMAS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3540279" y="2981204"/>
            <a:ext cx="1914555" cy="1675236"/>
          </a:xfrm>
          <a:custGeom>
            <a:avLst/>
            <a:gdLst/>
            <a:ahLst/>
            <a:cxnLst/>
            <a:rect r="r" b="b" t="t" l="l"/>
            <a:pathLst>
              <a:path h="1675236" w="1914555">
                <a:moveTo>
                  <a:pt x="0" y="0"/>
                </a:moveTo>
                <a:lnTo>
                  <a:pt x="1914555" y="0"/>
                </a:lnTo>
                <a:lnTo>
                  <a:pt x="1914555" y="1675235"/>
                </a:lnTo>
                <a:lnTo>
                  <a:pt x="0" y="16752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6008074" y="3016265"/>
            <a:ext cx="0" cy="4676296"/>
          </a:xfrm>
          <a:prstGeom prst="line">
            <a:avLst/>
          </a:prstGeom>
          <a:ln cap="flat" w="47625">
            <a:solidFill>
              <a:srgbClr val="01D9C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1423804" y="3016265"/>
            <a:ext cx="0" cy="4676296"/>
          </a:xfrm>
          <a:prstGeom prst="line">
            <a:avLst/>
          </a:prstGeom>
          <a:ln cap="flat" w="47625">
            <a:solidFill>
              <a:srgbClr val="1CEEA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565608" y="3736596"/>
            <a:ext cx="3309193" cy="846968"/>
          </a:xfrm>
          <a:custGeom>
            <a:avLst/>
            <a:gdLst/>
            <a:ahLst/>
            <a:cxnLst/>
            <a:rect r="r" b="b" t="t" l="l"/>
            <a:pathLst>
              <a:path h="846968" w="3309193">
                <a:moveTo>
                  <a:pt x="0" y="0"/>
                </a:moveTo>
                <a:lnTo>
                  <a:pt x="3309193" y="0"/>
                </a:lnTo>
                <a:lnTo>
                  <a:pt x="3309193" y="846969"/>
                </a:lnTo>
                <a:lnTo>
                  <a:pt x="0" y="8469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958278" y="3016265"/>
            <a:ext cx="1559295" cy="1722978"/>
          </a:xfrm>
          <a:custGeom>
            <a:avLst/>
            <a:gdLst/>
            <a:ahLst/>
            <a:cxnLst/>
            <a:rect r="r" b="b" t="t" l="l"/>
            <a:pathLst>
              <a:path h="1722978" w="1559295">
                <a:moveTo>
                  <a:pt x="0" y="0"/>
                </a:moveTo>
                <a:lnTo>
                  <a:pt x="1559295" y="0"/>
                </a:lnTo>
                <a:lnTo>
                  <a:pt x="1559295" y="1722977"/>
                </a:lnTo>
                <a:lnTo>
                  <a:pt x="0" y="17229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509943" y="5530767"/>
            <a:ext cx="4455965" cy="2161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97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WellQ maneja datos sensibles de sus pacientes, utilizar un servidor propio permite mantener un control directo sobre quién accede a esos datos y sobre cómo se almacenan, sin intermediarios.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22897" y="5552798"/>
            <a:ext cx="4194615" cy="1799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97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La dependencia del proveedor</a:t>
            </a:r>
            <a:r>
              <a:rPr lang="en-US" sz="2100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limita la capacidad de agregar nuevos dispositivos, puede experimentar caídas en el servicio y tiene costos asociados.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6780" y="4899947"/>
            <a:ext cx="4026849" cy="381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57"/>
              </a:lnSpc>
              <a:spcBef>
                <a:spcPct val="0"/>
              </a:spcBef>
            </a:pPr>
            <a:r>
              <a:rPr lang="en-US" b="true" sz="2215">
                <a:solidFill>
                  <a:srgbClr val="29C2EF"/>
                </a:solidFill>
                <a:latin typeface="DM Sans Bold"/>
                <a:ea typeface="DM Sans Bold"/>
                <a:cs typeface="DM Sans Bold"/>
                <a:sym typeface="DM Sans Bold"/>
              </a:rPr>
              <a:t>DEPENDENCIA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702515" y="4972821"/>
            <a:ext cx="4026849" cy="381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57"/>
              </a:lnSpc>
              <a:spcBef>
                <a:spcPct val="0"/>
              </a:spcBef>
            </a:pPr>
            <a:r>
              <a:rPr lang="en-US" b="true" sz="2215">
                <a:solidFill>
                  <a:srgbClr val="01D9CE"/>
                </a:solidFill>
                <a:latin typeface="DM Sans Bold"/>
                <a:ea typeface="DM Sans Bold"/>
                <a:cs typeface="DM Sans Bold"/>
                <a:sym typeface="DM Sans Bold"/>
              </a:rPr>
              <a:t>CONTROL DE DATOS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923867" y="5552798"/>
            <a:ext cx="5048595" cy="1799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97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 un backend propio se puede integrar nativamente los dispositivos que la clínica necesite sin esperar compatibilidad con Spike ni pagar por proveedores externos.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933392" y="4947692"/>
            <a:ext cx="5231711" cy="381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57"/>
              </a:lnSpc>
              <a:spcBef>
                <a:spcPct val="0"/>
              </a:spcBef>
            </a:pPr>
            <a:r>
              <a:rPr lang="en-US" b="true" sz="2215">
                <a:solidFill>
                  <a:srgbClr val="1CEEA6"/>
                </a:solidFill>
                <a:latin typeface="DM Sans Bold"/>
                <a:ea typeface="DM Sans Bold"/>
                <a:cs typeface="DM Sans Bold"/>
                <a:sym typeface="DM Sans Bold"/>
              </a:rPr>
              <a:t>ESCALABILIDAD Y PERSONALIZACIÓN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9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73276" y="6906331"/>
            <a:ext cx="957654" cy="738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13"/>
              </a:lnSpc>
              <a:spcBef>
                <a:spcPct val="0"/>
              </a:spcBef>
            </a:pPr>
            <a:r>
              <a:rPr lang="en-US" b="true" sz="4357">
                <a:solidFill>
                  <a:srgbClr val="01D9CE"/>
                </a:solidFill>
                <a:latin typeface="DM Sans Bold"/>
                <a:ea typeface="DM Sans Bold"/>
                <a:cs typeface="DM Sans Bold"/>
                <a:sym typeface="DM Sans Bold"/>
              </a:rPr>
              <a:t>04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128164" y="-2586935"/>
            <a:ext cx="5956513" cy="5956513"/>
          </a:xfrm>
          <a:custGeom>
            <a:avLst/>
            <a:gdLst/>
            <a:ahLst/>
            <a:cxnLst/>
            <a:rect r="r" b="b" t="t" l="l"/>
            <a:pathLst>
              <a:path h="5956513" w="5956513">
                <a:moveTo>
                  <a:pt x="0" y="0"/>
                </a:moveTo>
                <a:lnTo>
                  <a:pt x="5956513" y="0"/>
                </a:lnTo>
                <a:lnTo>
                  <a:pt x="5956513" y="5956513"/>
                </a:lnTo>
                <a:lnTo>
                  <a:pt x="0" y="5956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359890" y="7239384"/>
            <a:ext cx="5956513" cy="5956513"/>
          </a:xfrm>
          <a:custGeom>
            <a:avLst/>
            <a:gdLst/>
            <a:ahLst/>
            <a:cxnLst/>
            <a:rect r="r" b="b" t="t" l="l"/>
            <a:pathLst>
              <a:path h="5956513" w="5956513">
                <a:moveTo>
                  <a:pt x="0" y="0"/>
                </a:moveTo>
                <a:lnTo>
                  <a:pt x="5956513" y="0"/>
                </a:lnTo>
                <a:lnTo>
                  <a:pt x="5956513" y="5956513"/>
                </a:lnTo>
                <a:lnTo>
                  <a:pt x="0" y="5956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319670" y="2470398"/>
            <a:ext cx="5346204" cy="5346204"/>
          </a:xfrm>
          <a:custGeom>
            <a:avLst/>
            <a:gdLst/>
            <a:ahLst/>
            <a:cxnLst/>
            <a:rect r="r" b="b" t="t" l="l"/>
            <a:pathLst>
              <a:path h="5346204" w="5346204">
                <a:moveTo>
                  <a:pt x="0" y="0"/>
                </a:moveTo>
                <a:lnTo>
                  <a:pt x="5346204" y="0"/>
                </a:lnTo>
                <a:lnTo>
                  <a:pt x="5346204" y="5346204"/>
                </a:lnTo>
                <a:lnTo>
                  <a:pt x="0" y="53462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596623" y="1721933"/>
            <a:ext cx="5801499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22"/>
              </a:lnSpc>
              <a:spcBef>
                <a:spcPct val="0"/>
              </a:spcBef>
            </a:pPr>
            <a:r>
              <a:rPr lang="en-US" sz="626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SOLUCIÓN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73276" y="3463486"/>
            <a:ext cx="957654" cy="738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13"/>
              </a:lnSpc>
              <a:spcBef>
                <a:spcPct val="0"/>
              </a:spcBef>
            </a:pPr>
            <a:r>
              <a:rPr lang="en-US" b="true" sz="4357">
                <a:solidFill>
                  <a:srgbClr val="01D9CE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430930" y="3543051"/>
            <a:ext cx="5258123" cy="723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19"/>
              </a:lnSpc>
              <a:spcBef>
                <a:spcPct val="0"/>
              </a:spcBef>
            </a:pPr>
            <a:r>
              <a:rPr lang="en-US" sz="211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Reimplementar los endpoints de consulta que WellQ consume hoy en Spike.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73276" y="4611905"/>
            <a:ext cx="957654" cy="738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13"/>
              </a:lnSpc>
              <a:spcBef>
                <a:spcPct val="0"/>
              </a:spcBef>
            </a:pPr>
            <a:r>
              <a:rPr lang="en-US" b="true" sz="4357">
                <a:solidFill>
                  <a:srgbClr val="01D9CE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430930" y="4691471"/>
            <a:ext cx="5090538" cy="723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19"/>
              </a:lnSpc>
              <a:spcBef>
                <a:spcPct val="0"/>
              </a:spcBef>
            </a:pPr>
            <a:r>
              <a:rPr lang="en-US" sz="211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Inte</a:t>
            </a:r>
            <a:r>
              <a:rPr lang="en-US" sz="2115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grar </a:t>
            </a:r>
            <a:r>
              <a:rPr lang="en-US" sz="2115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 forma nativa </a:t>
            </a:r>
            <a:r>
              <a:rPr lang="en-US" sz="2115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los </a:t>
            </a:r>
            <a:r>
              <a:rPr lang="en-US" sz="2115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</a:t>
            </a:r>
            <a:r>
              <a:rPr lang="en-US" sz="2115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2115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ov</a:t>
            </a:r>
            <a:r>
              <a:rPr lang="en-US" sz="2115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2115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2115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do</a:t>
            </a:r>
            <a:r>
              <a:rPr lang="en-US" sz="2115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</a:t>
            </a:r>
            <a:r>
              <a:rPr lang="en-US" sz="2115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 </a:t>
            </a:r>
            <a:r>
              <a:rPr lang="en-US" sz="2115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Whoo</a:t>
            </a:r>
            <a:r>
              <a:rPr lang="en-US" sz="2115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</a:t>
            </a:r>
            <a:r>
              <a:rPr lang="en-US" sz="2115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, Ga</a:t>
            </a:r>
            <a:r>
              <a:rPr lang="en-US" sz="2115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2115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min, Fitbit y Oura.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73276" y="5757911"/>
            <a:ext cx="957654" cy="738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13"/>
              </a:lnSpc>
              <a:spcBef>
                <a:spcPct val="0"/>
              </a:spcBef>
            </a:pPr>
            <a:r>
              <a:rPr lang="en-US" b="true" sz="4357">
                <a:solidFill>
                  <a:srgbClr val="01D9CE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430930" y="5837477"/>
            <a:ext cx="4268255" cy="723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19"/>
              </a:lnSpc>
              <a:spcBef>
                <a:spcPct val="0"/>
              </a:spcBef>
            </a:pPr>
            <a:r>
              <a:rPr lang="en-US" sz="211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Ser documentado durante cada fase del desarrollo.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430930" y="6985896"/>
            <a:ext cx="4967192" cy="1085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19"/>
              </a:lnSpc>
              <a:spcBef>
                <a:spcPct val="0"/>
              </a:spcBef>
            </a:pPr>
            <a:r>
              <a:rPr lang="en-US" sz="211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Permitir </a:t>
            </a:r>
            <a:r>
              <a:rPr lang="en-US" sz="2115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qu</a:t>
            </a:r>
            <a:r>
              <a:rPr lang="en-US" sz="2115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2115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un </a:t>
            </a:r>
            <a:r>
              <a:rPr lang="en-US" sz="2115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</a:t>
            </a:r>
            <a:r>
              <a:rPr lang="en-US" sz="2115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abr</a:t>
            </a:r>
            <a:r>
              <a:rPr lang="en-US" sz="2115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ic</a:t>
            </a:r>
            <a:r>
              <a:rPr lang="en-US" sz="2115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ante se reg</a:t>
            </a:r>
            <a:r>
              <a:rPr lang="en-US" sz="2115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2115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str</a:t>
            </a:r>
            <a:r>
              <a:rPr lang="en-US" sz="2115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2115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2115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n-US" sz="2115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ree </a:t>
            </a:r>
            <a:r>
              <a:rPr lang="en-US" sz="2115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2115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pps,</a:t>
            </a:r>
            <a:r>
              <a:rPr lang="en-US" sz="2115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de</a:t>
            </a:r>
            <a:r>
              <a:rPr lang="en-US" sz="2115" strike="noStrike" u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clare dispositivos y solicite pasar a producción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96623" y="2693483"/>
            <a:ext cx="8678831" cy="428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71"/>
              </a:lnSpc>
              <a:spcBef>
                <a:spcPct val="0"/>
              </a:spcBef>
            </a:pPr>
            <a:r>
              <a:rPr lang="en-US" sz="251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La nueva API debe: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59A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41971" y="0"/>
            <a:ext cx="8369605" cy="10287000"/>
            <a:chOff x="0" y="0"/>
            <a:chExt cx="220434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04340" cy="2709333"/>
            </a:xfrm>
            <a:custGeom>
              <a:avLst/>
              <a:gdLst/>
              <a:ahLst/>
              <a:cxnLst/>
              <a:rect r="r" b="b" t="t" l="l"/>
              <a:pathLst>
                <a:path h="2709333" w="2204340">
                  <a:moveTo>
                    <a:pt x="0" y="0"/>
                  </a:moveTo>
                  <a:lnTo>
                    <a:pt x="2204340" y="0"/>
                  </a:lnTo>
                  <a:lnTo>
                    <a:pt x="220434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F1927">
                <a:alpha val="7490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04340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-164335" y="3556952"/>
            <a:ext cx="10906306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8975" y="54803"/>
            <a:ext cx="10722997" cy="3446424"/>
          </a:xfrm>
          <a:custGeom>
            <a:avLst/>
            <a:gdLst/>
            <a:ahLst/>
            <a:cxnLst/>
            <a:rect r="r" b="b" t="t" l="l"/>
            <a:pathLst>
              <a:path h="3446424" w="10722997">
                <a:moveTo>
                  <a:pt x="0" y="0"/>
                </a:moveTo>
                <a:lnTo>
                  <a:pt x="10722996" y="0"/>
                </a:lnTo>
                <a:lnTo>
                  <a:pt x="10722996" y="3446424"/>
                </a:lnTo>
                <a:lnTo>
                  <a:pt x="0" y="34464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54043" y="3637914"/>
            <a:ext cx="8298248" cy="6690061"/>
          </a:xfrm>
          <a:custGeom>
            <a:avLst/>
            <a:gdLst/>
            <a:ahLst/>
            <a:cxnLst/>
            <a:rect r="r" b="b" t="t" l="l"/>
            <a:pathLst>
              <a:path h="6690061" w="8298248">
                <a:moveTo>
                  <a:pt x="0" y="0"/>
                </a:moveTo>
                <a:lnTo>
                  <a:pt x="8298248" y="0"/>
                </a:lnTo>
                <a:lnTo>
                  <a:pt x="8298248" y="6690061"/>
                </a:lnTo>
                <a:lnTo>
                  <a:pt x="0" y="66900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266417" y="2549619"/>
            <a:ext cx="4952860" cy="62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85"/>
              </a:lnSpc>
              <a:spcBef>
                <a:spcPct val="0"/>
              </a:spcBef>
            </a:pPr>
            <a:r>
              <a:rPr lang="en-US" b="true" sz="3757">
                <a:solidFill>
                  <a:srgbClr val="29C2EF"/>
                </a:solidFill>
                <a:latin typeface="DM Sans Bold"/>
                <a:ea typeface="DM Sans Bold"/>
                <a:cs typeface="DM Sans Bold"/>
                <a:sym typeface="DM Sans Bold"/>
              </a:rPr>
              <a:t>Casos de uso Médico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631061" y="3229752"/>
            <a:ext cx="6223574" cy="1934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57"/>
              </a:lnSpc>
              <a:spcBef>
                <a:spcPct val="0"/>
              </a:spcBef>
            </a:pPr>
            <a:r>
              <a:rPr lang="en-US" sz="221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El médico tiene la capacidad de evaluar patrones de sueño, ver estadísticas, analizar historial de entrenamientos y revisar métricas, conectandose a la nueva backend exactamente como lo haría con Spike.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217148" y="6011743"/>
            <a:ext cx="5051398" cy="628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85"/>
              </a:lnSpc>
              <a:spcBef>
                <a:spcPct val="0"/>
              </a:spcBef>
            </a:pPr>
            <a:r>
              <a:rPr lang="en-US" b="true" sz="3757">
                <a:solidFill>
                  <a:srgbClr val="1CEEA6"/>
                </a:solidFill>
                <a:latin typeface="DM Sans Bold"/>
                <a:ea typeface="DM Sans Bold"/>
                <a:cs typeface="DM Sans Bold"/>
                <a:sym typeface="DM Sans Bold"/>
              </a:rPr>
              <a:t>Paciente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808423" y="6695663"/>
            <a:ext cx="5868848" cy="1934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57"/>
              </a:lnSpc>
              <a:spcBef>
                <a:spcPct val="0"/>
              </a:spcBef>
            </a:pPr>
            <a:r>
              <a:rPr lang="en-US" sz="221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El paciente ahora se va a tener que autenticar para obtener su token JWT, que le permitirá luego interactuar con las funciones del sistema, incluyendo realizar la integración con sus dispositivos.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0046545" y="9531945"/>
            <a:ext cx="2487002" cy="2487002"/>
          </a:xfrm>
          <a:custGeom>
            <a:avLst/>
            <a:gdLst/>
            <a:ahLst/>
            <a:cxnLst/>
            <a:rect r="r" b="b" t="t" l="l"/>
            <a:pathLst>
              <a:path h="2487002" w="2487002">
                <a:moveTo>
                  <a:pt x="0" y="0"/>
                </a:moveTo>
                <a:lnTo>
                  <a:pt x="2487002" y="0"/>
                </a:lnTo>
                <a:lnTo>
                  <a:pt x="2487002" y="2487003"/>
                </a:lnTo>
                <a:lnTo>
                  <a:pt x="0" y="24870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266488" y="9531945"/>
            <a:ext cx="2487002" cy="2487002"/>
          </a:xfrm>
          <a:custGeom>
            <a:avLst/>
            <a:gdLst/>
            <a:ahLst/>
            <a:cxnLst/>
            <a:rect r="r" b="b" t="t" l="l"/>
            <a:pathLst>
              <a:path h="2487002" w="2487002">
                <a:moveTo>
                  <a:pt x="0" y="0"/>
                </a:moveTo>
                <a:lnTo>
                  <a:pt x="2487002" y="0"/>
                </a:lnTo>
                <a:lnTo>
                  <a:pt x="2487002" y="2487003"/>
                </a:lnTo>
                <a:lnTo>
                  <a:pt x="0" y="24870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476296" y="9531945"/>
            <a:ext cx="2487002" cy="2487002"/>
          </a:xfrm>
          <a:custGeom>
            <a:avLst/>
            <a:gdLst/>
            <a:ahLst/>
            <a:cxnLst/>
            <a:rect r="r" b="b" t="t" l="l"/>
            <a:pathLst>
              <a:path h="2487002" w="2487002">
                <a:moveTo>
                  <a:pt x="0" y="0"/>
                </a:moveTo>
                <a:lnTo>
                  <a:pt x="2487002" y="0"/>
                </a:lnTo>
                <a:lnTo>
                  <a:pt x="2487002" y="2487003"/>
                </a:lnTo>
                <a:lnTo>
                  <a:pt x="0" y="24870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1126395" y="266700"/>
            <a:ext cx="6905602" cy="147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87"/>
              </a:lnSpc>
              <a:spcBef>
                <a:spcPct val="0"/>
              </a:spcBef>
            </a:pPr>
            <a:r>
              <a:rPr lang="en-US" sz="473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DISEÑO DE LA SOLUCIÓN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1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41971" y="0"/>
            <a:ext cx="8369605" cy="10287000"/>
            <a:chOff x="0" y="0"/>
            <a:chExt cx="220434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04340" cy="2709333"/>
            </a:xfrm>
            <a:custGeom>
              <a:avLst/>
              <a:gdLst/>
              <a:ahLst/>
              <a:cxnLst/>
              <a:rect r="r" b="b" t="t" l="l"/>
              <a:pathLst>
                <a:path h="2709333" w="2204340">
                  <a:moveTo>
                    <a:pt x="0" y="0"/>
                  </a:moveTo>
                  <a:lnTo>
                    <a:pt x="2204340" y="0"/>
                  </a:lnTo>
                  <a:lnTo>
                    <a:pt x="220434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F1927">
                <a:alpha val="7490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04340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9204" y="1402920"/>
            <a:ext cx="4417838" cy="7108251"/>
          </a:xfrm>
          <a:custGeom>
            <a:avLst/>
            <a:gdLst/>
            <a:ahLst/>
            <a:cxnLst/>
            <a:rect r="r" b="b" t="t" l="l"/>
            <a:pathLst>
              <a:path h="7108251" w="4417838">
                <a:moveTo>
                  <a:pt x="0" y="0"/>
                </a:moveTo>
                <a:lnTo>
                  <a:pt x="4417837" y="0"/>
                </a:lnTo>
                <a:lnTo>
                  <a:pt x="4417837" y="7108251"/>
                </a:lnTo>
                <a:lnTo>
                  <a:pt x="0" y="71082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706945" y="502792"/>
            <a:ext cx="5940007" cy="8531365"/>
          </a:xfrm>
          <a:custGeom>
            <a:avLst/>
            <a:gdLst/>
            <a:ahLst/>
            <a:cxnLst/>
            <a:rect r="r" b="b" t="t" l="l"/>
            <a:pathLst>
              <a:path h="8531365" w="5940007">
                <a:moveTo>
                  <a:pt x="0" y="0"/>
                </a:moveTo>
                <a:lnTo>
                  <a:pt x="5940007" y="0"/>
                </a:lnTo>
                <a:lnTo>
                  <a:pt x="5940007" y="8531365"/>
                </a:lnTo>
                <a:lnTo>
                  <a:pt x="0" y="8531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126395" y="266700"/>
            <a:ext cx="6905602" cy="147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87"/>
              </a:lnSpc>
              <a:spcBef>
                <a:spcPct val="0"/>
              </a:spcBef>
            </a:pPr>
            <a:r>
              <a:rPr lang="en-US" sz="473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DISEÑO DE LA SOLUCIÓN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02766" y="2696371"/>
            <a:ext cx="4952860" cy="628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85"/>
              </a:lnSpc>
              <a:spcBef>
                <a:spcPct val="0"/>
              </a:spcBef>
            </a:pPr>
            <a:r>
              <a:rPr lang="en-US" b="true" sz="3757">
                <a:solidFill>
                  <a:srgbClr val="29C2EF"/>
                </a:solidFill>
                <a:latin typeface="DM Sans Bold"/>
                <a:ea typeface="DM Sans Bold"/>
                <a:cs typeface="DM Sans Bold"/>
                <a:sym typeface="DM Sans Bold"/>
              </a:rPr>
              <a:t>Ciclo del token JWT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67409" y="3376505"/>
            <a:ext cx="6223574" cy="2321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7"/>
              </a:lnSpc>
            </a:pPr>
            <a:r>
              <a:rPr lang="en-US" sz="221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La nueva autenticación permita que se deba si o si incluir un token JWT para usar la aplicación, con duración de 24 horas, aumentando la seguridad. </a:t>
            </a:r>
          </a:p>
          <a:p>
            <a:pPr algn="ctr">
              <a:lnSpc>
                <a:spcPts val="3057"/>
              </a:lnSpc>
            </a:pPr>
          </a:p>
          <a:p>
            <a:pPr algn="ctr" marL="0" indent="0" lvl="0">
              <a:lnSpc>
                <a:spcPts val="3057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994047" y="6038431"/>
            <a:ext cx="7293953" cy="628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85"/>
              </a:lnSpc>
              <a:spcBef>
                <a:spcPct val="0"/>
              </a:spcBef>
            </a:pPr>
            <a:r>
              <a:rPr lang="en-US" b="true" sz="3757">
                <a:solidFill>
                  <a:srgbClr val="29C2EF"/>
                </a:solidFill>
                <a:latin typeface="DM Sans Bold"/>
                <a:ea typeface="DM Sans Bold"/>
                <a:cs typeface="DM Sans Bold"/>
                <a:sym typeface="DM Sans Bold"/>
              </a:rPr>
              <a:t>SelfService de proveedores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67409" y="6896581"/>
            <a:ext cx="6223574" cy="1546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57"/>
              </a:lnSpc>
              <a:spcBef>
                <a:spcPct val="0"/>
              </a:spcBef>
            </a:pPr>
            <a:r>
              <a:rPr lang="en-US" sz="221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Ahora los proveedores van a poder registrar su API directamente en la aplicación, de manera que WellQ luego de validarlo, pueden promover sus dispositivos sin necesidad de SpikeAPI.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0" y="9400190"/>
            <a:ext cx="2487002" cy="2487002"/>
          </a:xfrm>
          <a:custGeom>
            <a:avLst/>
            <a:gdLst/>
            <a:ahLst/>
            <a:cxnLst/>
            <a:rect r="r" b="b" t="t" l="l"/>
            <a:pathLst>
              <a:path h="2487002" w="2487002">
                <a:moveTo>
                  <a:pt x="0" y="0"/>
                </a:moveTo>
                <a:lnTo>
                  <a:pt x="2487002" y="0"/>
                </a:lnTo>
                <a:lnTo>
                  <a:pt x="2487002" y="2487002"/>
                </a:lnTo>
                <a:lnTo>
                  <a:pt x="0" y="24870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219943" y="9400190"/>
            <a:ext cx="2487002" cy="2487002"/>
          </a:xfrm>
          <a:custGeom>
            <a:avLst/>
            <a:gdLst/>
            <a:ahLst/>
            <a:cxnLst/>
            <a:rect r="r" b="b" t="t" l="l"/>
            <a:pathLst>
              <a:path h="2487002" w="2487002">
                <a:moveTo>
                  <a:pt x="0" y="0"/>
                </a:moveTo>
                <a:lnTo>
                  <a:pt x="2487002" y="0"/>
                </a:lnTo>
                <a:lnTo>
                  <a:pt x="2487002" y="2487002"/>
                </a:lnTo>
                <a:lnTo>
                  <a:pt x="0" y="24870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429751" y="9400190"/>
            <a:ext cx="2487002" cy="2487002"/>
          </a:xfrm>
          <a:custGeom>
            <a:avLst/>
            <a:gdLst/>
            <a:ahLst/>
            <a:cxnLst/>
            <a:rect r="r" b="b" t="t" l="l"/>
            <a:pathLst>
              <a:path h="2487002" w="2487002">
                <a:moveTo>
                  <a:pt x="0" y="0"/>
                </a:moveTo>
                <a:lnTo>
                  <a:pt x="2487002" y="0"/>
                </a:lnTo>
                <a:lnTo>
                  <a:pt x="2487002" y="2487002"/>
                </a:lnTo>
                <a:lnTo>
                  <a:pt x="0" y="24870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9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22339" y="7919689"/>
            <a:ext cx="6452848" cy="5596379"/>
          </a:xfrm>
          <a:custGeom>
            <a:avLst/>
            <a:gdLst/>
            <a:ahLst/>
            <a:cxnLst/>
            <a:rect r="r" b="b" t="t" l="l"/>
            <a:pathLst>
              <a:path h="5596379" w="6452848">
                <a:moveTo>
                  <a:pt x="0" y="0"/>
                </a:moveTo>
                <a:lnTo>
                  <a:pt x="6452849" y="0"/>
                </a:lnTo>
                <a:lnTo>
                  <a:pt x="6452849" y="5596379"/>
                </a:lnTo>
                <a:lnTo>
                  <a:pt x="0" y="55963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3367400" y="-2798190"/>
            <a:ext cx="6452848" cy="5596379"/>
          </a:xfrm>
          <a:custGeom>
            <a:avLst/>
            <a:gdLst/>
            <a:ahLst/>
            <a:cxnLst/>
            <a:rect r="r" b="b" t="t" l="l"/>
            <a:pathLst>
              <a:path h="5596379" w="6452848">
                <a:moveTo>
                  <a:pt x="0" y="0"/>
                </a:moveTo>
                <a:lnTo>
                  <a:pt x="6452849" y="0"/>
                </a:lnTo>
                <a:lnTo>
                  <a:pt x="6452849" y="5596380"/>
                </a:lnTo>
                <a:lnTo>
                  <a:pt x="0" y="55963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73104" y="5805422"/>
            <a:ext cx="16244247" cy="3340038"/>
          </a:xfrm>
          <a:custGeom>
            <a:avLst/>
            <a:gdLst/>
            <a:ahLst/>
            <a:cxnLst/>
            <a:rect r="r" b="b" t="t" l="l"/>
            <a:pathLst>
              <a:path h="3340038" w="16244247">
                <a:moveTo>
                  <a:pt x="0" y="0"/>
                </a:moveTo>
                <a:lnTo>
                  <a:pt x="16244247" y="0"/>
                </a:lnTo>
                <a:lnTo>
                  <a:pt x="16244247" y="3340038"/>
                </a:lnTo>
                <a:lnTo>
                  <a:pt x="0" y="33400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aphicFrame>
        <p:nvGraphicFramePr>
          <p:cNvPr name="Object 5" id="5"/>
          <p:cNvGraphicFramePr/>
          <p:nvPr/>
        </p:nvGraphicFramePr>
        <p:xfrm>
          <a:off x="1173104" y="2036709"/>
          <a:ext cx="7543800" cy="5657850"/>
        </p:xfrm>
        <a:graphic>
          <a:graphicData uri="http://schemas.openxmlformats.org/presentationml/2006/ole">
            <p:oleObj imgW="9042400" imgH="7162800" r:id="rId8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028700" y="680181"/>
            <a:ext cx="5340846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79"/>
              </a:lnSpc>
              <a:spcBef>
                <a:spcPct val="0"/>
              </a:spcBef>
            </a:pPr>
            <a:r>
              <a:rPr lang="en-US" sz="6399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CRONOLOGÍA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9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0637321" y="2636321"/>
            <a:ext cx="7650679" cy="7650679"/>
            <a:chOff x="0" y="0"/>
            <a:chExt cx="3331210" cy="33312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31210" cy="3331210"/>
            </a:xfrm>
            <a:custGeom>
              <a:avLst/>
              <a:gdLst/>
              <a:ahLst/>
              <a:cxnLst/>
              <a:rect r="r" b="b" t="t" l="l"/>
              <a:pathLst>
                <a:path h="3331210" w="3331210">
                  <a:moveTo>
                    <a:pt x="3331210" y="3331210"/>
                  </a:moveTo>
                  <a:lnTo>
                    <a:pt x="0" y="3331210"/>
                  </a:lnTo>
                  <a:cubicBezTo>
                    <a:pt x="0" y="1490980"/>
                    <a:pt x="1490980" y="0"/>
                    <a:pt x="3331210" y="0"/>
                  </a:cubicBezTo>
                  <a:lnTo>
                    <a:pt x="3331210" y="3331210"/>
                  </a:lnTo>
                  <a:close/>
                </a:path>
              </a:pathLst>
            </a:custGeom>
            <a:blipFill>
              <a:blip r:embed="rId2"/>
              <a:stretch>
                <a:fillRect l="-25187" t="0" r="-25187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291173" y="3867626"/>
            <a:ext cx="9364819" cy="469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63"/>
              </a:lnSpc>
              <a:spcBef>
                <a:spcPct val="0"/>
              </a:spcBef>
            </a:pPr>
            <a:r>
              <a:rPr lang="en-US" b="true" sz="2799">
                <a:solidFill>
                  <a:srgbClr val="01D9CE"/>
                </a:solidFill>
                <a:latin typeface="DM Sans Bold"/>
                <a:ea typeface="DM Sans Bold"/>
                <a:cs typeface="DM Sans Bold"/>
                <a:sym typeface="DM Sans Bold"/>
              </a:rPr>
              <a:t>Backend de WellQ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18247" y="2886551"/>
            <a:ext cx="5252145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80"/>
              </a:lnSpc>
              <a:spcBef>
                <a:spcPct val="0"/>
              </a:spcBef>
            </a:pPr>
            <a:r>
              <a:rPr lang="en-US" sz="6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CONCLUSIÓN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91173" y="4667437"/>
            <a:ext cx="6852827" cy="3343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spc="109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Para la realización de este proyecto necesitaremos aplicar todo lo aprendido en la carrera.</a:t>
            </a:r>
          </a:p>
          <a:p>
            <a:pPr algn="l">
              <a:lnSpc>
                <a:spcPts val="2639"/>
              </a:lnSpc>
            </a:pPr>
          </a:p>
          <a:p>
            <a:pPr algn="l" marL="0" indent="0" lvl="0">
              <a:lnSpc>
                <a:spcPts val="2639"/>
              </a:lnSpc>
              <a:spcBef>
                <a:spcPct val="0"/>
              </a:spcBef>
            </a:pPr>
            <a:r>
              <a:rPr lang="en-US" sz="2199" spc="109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Pese a desconocer ciertos aspectos técnicos que no hemos utilizado, nos ayudará a mejorar y proporcionar un sistema que cumpla con las expectativas del cliente, teniendo la posibilidad de trabajar con un cliente real con el cual crecer profesionalmente.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28700" y="502727"/>
            <a:ext cx="1014234" cy="1243983"/>
          </a:xfrm>
          <a:custGeom>
            <a:avLst/>
            <a:gdLst/>
            <a:ahLst/>
            <a:cxnLst/>
            <a:rect r="r" b="b" t="t" l="l"/>
            <a:pathLst>
              <a:path h="1243983" w="1014234">
                <a:moveTo>
                  <a:pt x="0" y="0"/>
                </a:moveTo>
                <a:lnTo>
                  <a:pt x="1014234" y="0"/>
                </a:lnTo>
                <a:lnTo>
                  <a:pt x="1014234" y="1243982"/>
                </a:lnTo>
                <a:lnTo>
                  <a:pt x="0" y="12439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527938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291173" y="502727"/>
            <a:ext cx="5106292" cy="1243983"/>
          </a:xfrm>
          <a:custGeom>
            <a:avLst/>
            <a:gdLst/>
            <a:ahLst/>
            <a:cxnLst/>
            <a:rect r="r" b="b" t="t" l="l"/>
            <a:pathLst>
              <a:path h="1243983" w="5106292">
                <a:moveTo>
                  <a:pt x="0" y="0"/>
                </a:moveTo>
                <a:lnTo>
                  <a:pt x="5106292" y="0"/>
                </a:lnTo>
                <a:lnTo>
                  <a:pt x="5106292" y="1243982"/>
                </a:lnTo>
                <a:lnTo>
                  <a:pt x="0" y="12439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4723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501605" y="-1996388"/>
            <a:ext cx="4337366" cy="4337366"/>
          </a:xfrm>
          <a:custGeom>
            <a:avLst/>
            <a:gdLst/>
            <a:ahLst/>
            <a:cxnLst/>
            <a:rect r="r" b="b" t="t" l="l"/>
            <a:pathLst>
              <a:path h="4337366" w="4337366">
                <a:moveTo>
                  <a:pt x="0" y="0"/>
                </a:moveTo>
                <a:lnTo>
                  <a:pt x="4337366" y="0"/>
                </a:lnTo>
                <a:lnTo>
                  <a:pt x="4337366" y="4337366"/>
                </a:lnTo>
                <a:lnTo>
                  <a:pt x="0" y="43373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9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632866" y="8418963"/>
            <a:ext cx="4337366" cy="4337366"/>
          </a:xfrm>
          <a:custGeom>
            <a:avLst/>
            <a:gdLst/>
            <a:ahLst/>
            <a:cxnLst/>
            <a:rect r="r" b="b" t="t" l="l"/>
            <a:pathLst>
              <a:path h="4337366" w="4337366">
                <a:moveTo>
                  <a:pt x="0" y="0"/>
                </a:moveTo>
                <a:lnTo>
                  <a:pt x="4337366" y="0"/>
                </a:lnTo>
                <a:lnTo>
                  <a:pt x="4337366" y="4337366"/>
                </a:lnTo>
                <a:lnTo>
                  <a:pt x="0" y="43373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9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DAHUuU5J1W8</dc:identifier>
  <dcterms:modified xsi:type="dcterms:W3CDTF">2011-08-01T06:04:30Z</dcterms:modified>
  <cp:revision>1</cp:revision>
  <dc:title>Presentación propuesta de proyecto de la empresa corporativo moderno azul</dc:title>
</cp:coreProperties>
</file>